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70" r:id="rId12"/>
    <p:sldId id="27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67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15639" y="1904107"/>
            <a:ext cx="5760720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Montserrat"/>
              </a:rPr>
              <a:t>WATER</a:t>
            </a:r>
            <a:r>
              <a:rPr sz="5400" b="1" i="0" u="none">
                <a:solidFill>
                  <a:srgbClr val="22D3EE"/>
                </a:solidFill>
                <a:latin typeface="Montserrat"/>
              </a:rPr>
              <a:t>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43162" y="2848867"/>
            <a:ext cx="730567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ESP32-Based Smart Overhead Tank Water Quality &amp; Supply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9750" y="3690788"/>
            <a:ext cx="9525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71962" y="4205138"/>
            <a:ext cx="36480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Presented by: Bhuvanesh Chinnathambi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10087" y="4748063"/>
            <a:ext cx="31718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Electronics and Communication Engineering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475" y="4667250"/>
            <a:ext cx="3810000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47862"/>
            <a:ext cx="5229225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1966912"/>
            <a:ext cx="5191125" cy="3771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81750" y="2047875"/>
            <a:ext cx="549068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FACC15"/>
                </a:solidFill>
                <a:latin typeface="Montserrat"/>
              </a:rPr>
              <a:t>MANUAL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2457450"/>
            <a:ext cx="5229225" cy="609600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Manual pump operation leads to dry runs or overflows.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3257550"/>
            <a:ext cx="5229225" cy="609600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Fixed timers fail to account for variable usage patterns.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0" y="4057650"/>
            <a:ext cx="5229225" cy="609600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Zero real-time water quality monitoring for resident health.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0" y="4857750"/>
            <a:ext cx="5229225" cy="609600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Problems are detected only after someone complains.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250983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3309937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4110037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0" y="4910137"/>
            <a:ext cx="19050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22D3EE"/>
                </a:solidFill>
                <a:latin typeface="Montserrat"/>
              </a:rPr>
              <a:t>THE PROBLEM NOBODY SEES COMING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581025"/>
            <a:ext cx="76200" cy="466725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4962"/>
            <a:ext cx="3486150" cy="2933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604962"/>
            <a:ext cx="3486150" cy="2933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604962"/>
            <a:ext cx="3486150" cy="2933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1188" y="4919662"/>
            <a:ext cx="1749474" cy="1143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3908" y="2643187"/>
            <a:ext cx="306038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Montserrat"/>
              </a:rPr>
              <a:t>SENSE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109912"/>
            <a:ext cx="29146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Continuous monitoring of tank levels and TDS quality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5808" y="2643187"/>
            <a:ext cx="306038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Montserrat"/>
              </a:rPr>
              <a:t>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8675" y="3109912"/>
            <a:ext cx="29146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ESP32 filters noise and applies intelligence to start/stop the pump.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7708" y="2643187"/>
            <a:ext cx="306038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Montserrat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0575" y="3109912"/>
            <a:ext cx="29146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Automated relay switching with dry-run protection and solar backup.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6925" y="1938337"/>
            <a:ext cx="51435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7400" y="1938337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7875" y="1938337"/>
            <a:ext cx="40005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22D3EE"/>
                </a:solidFill>
                <a:latin typeface="Montserrat"/>
              </a:rPr>
              <a:t>MISSION: CONDITION-DRIVEN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581025"/>
            <a:ext cx="76200" cy="466725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4990623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22D3EE"/>
                </a:solidFill>
                <a:latin typeface="Montserrat"/>
              </a:rPr>
              <a:t>THE BIG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581025"/>
            <a:ext cx="76200" cy="466725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1025" y="1238250"/>
            <a:ext cx="49434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ACC15"/>
                </a:solidFill>
                <a:latin typeface="Inter SemiBold"/>
              </a:rPr>
              <a:t>INTELLIGENT IoT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1828800"/>
            <a:ext cx="4943475" cy="30480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Renewable Solar Energy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276475"/>
            <a:ext cx="4943475" cy="304800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Battery-Backed Stability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724150"/>
            <a:ext cx="4943475" cy="30480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ESP32 Central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171825"/>
            <a:ext cx="4943475" cy="30480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Triple Sensor Feedback Loop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8118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328862"/>
            <a:ext cx="21907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776537"/>
            <a:ext cx="23812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224212"/>
            <a:ext cx="190500" cy="2000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4019" y="814387"/>
            <a:ext cx="6322979" cy="50583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709737"/>
            <a:ext cx="4183260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5785" y="2343596"/>
            <a:ext cx="3042344" cy="14140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8630" y="2343596"/>
            <a:ext cx="3042344" cy="14140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5785" y="3948112"/>
            <a:ext cx="3042344" cy="141401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8630" y="3948112"/>
            <a:ext cx="3042344" cy="1414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6285" y="2534096"/>
            <a:ext cx="2794411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2D3EE"/>
                </a:solidFill>
                <a:latin typeface="Inter"/>
              </a:rPr>
              <a:t>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6285" y="2927151"/>
            <a:ext cx="2661344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ESP32 DevKit V1 (WiFi/BT Embedded)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130" y="2534096"/>
            <a:ext cx="2794411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ACC15"/>
                </a:solidFill>
                <a:latin typeface="Inter"/>
              </a:rPr>
              <a:t>LEVEL SENSING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130" y="2927151"/>
            <a:ext cx="2661344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HC-SR04 Ultrasonic Sensor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6285" y="4138612"/>
            <a:ext cx="2794411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2D3EE"/>
                </a:solidFill>
                <a:latin typeface="Inter"/>
              </a:rP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6285" y="4531667"/>
            <a:ext cx="2661344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Analog TDS/Quality Potentiometer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130" y="4138612"/>
            <a:ext cx="2794411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ACC15"/>
                </a:solidFill>
                <a:latin typeface="Inter"/>
              </a:rPr>
              <a:t>POWER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130" y="4531667"/>
            <a:ext cx="2661344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Solar + Charge Controller + Buck Converter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22D3EE"/>
                </a:solidFill>
                <a:latin typeface="Montserrat"/>
              </a:rPr>
              <a:t>HARDWARE INTELLIGENCE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1025" y="581025"/>
            <a:ext cx="76200" cy="466725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1709737"/>
            <a:ext cx="4326134" cy="42862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514600"/>
            <a:ext cx="549068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FACC15"/>
                </a:solidFill>
                <a:latin typeface="Montserrat"/>
              </a:rPr>
              <a:t>ENERGY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924175"/>
            <a:ext cx="52292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Designed for reliable, 24/7 off-grid monitoring of critical water infrastructure.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819525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819525"/>
            <a:ext cx="4848225" cy="3048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Solar Module: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Daytime generation.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124325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124325"/>
            <a:ext cx="4848225" cy="3048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12V Battery: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Night-time monitoring.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4429125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429125"/>
            <a:ext cx="4848225" cy="3048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Buck Converter: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Precise 5V/3.3V for ESP32 logic.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733925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4733925"/>
            <a:ext cx="4848225" cy="3048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Fail-Safe: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State retention on power restore.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22D3EE"/>
                </a:solidFill>
                <a:latin typeface="Montserrat"/>
              </a:rPr>
              <a:t>SOLAR-ASSISTED POWER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581025"/>
            <a:ext cx="76200" cy="466725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518933"/>
            <a:ext cx="4788146" cy="46011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137" y="2185987"/>
            <a:ext cx="1905000" cy="333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4067175"/>
            <a:ext cx="5229225" cy="1085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81750" y="2552700"/>
            <a:ext cx="549068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22D3EE"/>
                </a:solidFill>
                <a:latin typeface="Montserrat"/>
              </a:rPr>
              <a:t>HYSTERESIS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2962275"/>
            <a:ext cx="5229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 single threshold causes the pump to "chatter" — rapid ON/OFF switching that burns out relay contacts and motors.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1237" y="3527226"/>
            <a:ext cx="1828800" cy="195441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89857" y="2549723"/>
            <a:ext cx="2011560" cy="190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71937" y="2549723"/>
            <a:ext cx="8001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EF4444"/>
                </a:solidFill>
                <a:latin typeface="Inter"/>
              </a:rPr>
              <a:t>90% STOP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89857" y="4485382"/>
            <a:ext cx="2011560" cy="1905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76687" y="4313932"/>
            <a:ext cx="895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4ADE80"/>
                </a:solidFill>
                <a:latin typeface="Inter"/>
              </a:rPr>
              <a:t>30% 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9875" y="4305300"/>
            <a:ext cx="47529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ACC15"/>
                </a:solidFill>
                <a:latin typeface="JetBrains Mono"/>
              </a:rPr>
              <a:t>if (level &lt;= 30) pump = ON;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9875" y="4610100"/>
            <a:ext cx="47529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ACC15"/>
                </a:solidFill>
                <a:latin typeface="JetBrains Mono"/>
              </a:rPr>
              <a:t>if (level &gt;= 90) pump = OFF;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22D3EE"/>
                </a:solidFill>
                <a:latin typeface="Montserrat"/>
              </a:rPr>
              <a:t>WHY 30% ON AND 90% OFF?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581025"/>
            <a:ext cx="76200" cy="466725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47862"/>
            <a:ext cx="5229225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1966912"/>
            <a:ext cx="5191125" cy="3771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81750" y="2354609"/>
            <a:ext cx="549068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EF4444"/>
                </a:solidFill>
                <a:latin typeface="Montserrat"/>
              </a:rPr>
              <a:t>DRY-RUN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2764184"/>
            <a:ext cx="52292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The overhead tank cannot detect if the source is empty. Monitoring the underground sump is critical.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4954934"/>
            <a:ext cx="52292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1" u="none">
                <a:solidFill>
                  <a:srgbClr val="CBD5E1"/>
                </a:solidFill>
                <a:latin typeface="Inter"/>
              </a:rPr>
              <a:t>"Preventing pump destruction through source-aware logic."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0350" y="3659534"/>
            <a:ext cx="5000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SUMP LEVEL ≤ 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0350" y="4154834"/>
            <a:ext cx="5000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"/>
              </a:rPr>
              <a:t>Pump operation is immediately blocked. </a:t>
            </a:r>
            <a:r>
              <a:rPr sz="1500" b="1" i="0" u="none">
                <a:solidFill>
                  <a:srgbClr val="F8FAFC"/>
                </a:solidFill>
                <a:latin typeface="Inter"/>
              </a:rPr>
              <a:t>Alarm Triggered.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22D3EE"/>
                </a:solidFill>
                <a:latin typeface="Montserrat"/>
              </a:rPr>
              <a:t>THE GUARD BENEATH THE TANK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581025"/>
            <a:ext cx="76200" cy="466725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962400"/>
            <a:ext cx="5229225" cy="1085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657475"/>
            <a:ext cx="549068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FACC15"/>
                </a:solidFill>
                <a:latin typeface="Montserrat"/>
              </a:rPr>
              <a:t>TANKER FILL 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067050"/>
            <a:ext cx="52292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The system distinguishes between a pump-driven rise and an external tanker fill.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200525"/>
            <a:ext cx="47529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22D3EE"/>
                </a:solidFill>
                <a:latin typeface="JetBrains Mono"/>
              </a:rPr>
              <a:t>if (Level Increasing &amp;&amp; Pump == OFF)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4505325"/>
            <a:ext cx="47529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ACC15"/>
                </a:solidFill>
                <a:latin typeface="JetBrains Mono"/>
              </a:rPr>
              <a:t>{ Result = TANKER_FILL;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22D3EE"/>
                </a:solidFill>
                <a:latin typeface="Montserrat"/>
              </a:rPr>
              <a:t>WHEN THE TANK RISES BY ITSELF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581025"/>
            <a:ext cx="76200" cy="466725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058" y="1628775"/>
            <a:ext cx="4497594" cy="43579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709588"/>
            <a:ext cx="5229225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1728638"/>
            <a:ext cx="5191125" cy="424815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81750" y="1631602"/>
          <a:ext cx="5229224" cy="3952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056"/>
                <a:gridCol w="2347168"/>
              </a:tblGrid>
              <a:tr h="494109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Inter"/>
                        </a:rPr>
                        <a:t>Signal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Inter"/>
                        </a:rPr>
                        <a:t>ESP32 GPIO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D3EE"/>
                    </a:solidFill>
                  </a:tcPr>
                </a:tc>
              </a:tr>
              <a:tr h="49410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Inter"/>
                        </a:rPr>
                        <a:t>HC-SR04 TRIG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Inter"/>
                        </a:rPr>
                        <a:t>GPIO 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410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Inter"/>
                        </a:rPr>
                        <a:t>HC-SR04 ECHO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Inter"/>
                        </a:rPr>
                        <a:t>GPIO 18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410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Inter"/>
                        </a:rPr>
                        <a:t>Quality Sensor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Inter"/>
                        </a:rPr>
                        <a:t>GPIO 34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410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Inter"/>
                        </a:rPr>
                        <a:t>Sump Sensor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Inter"/>
                        </a:rPr>
                        <a:t>GPIO 35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410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Inter"/>
                        </a:rPr>
                        <a:t>Relay Control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Inter"/>
                        </a:rPr>
                        <a:t>GPIO 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410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Inter"/>
                        </a:rPr>
                        <a:t>Quality LED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Inter"/>
                        </a:rPr>
                        <a:t>GPIO 27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4112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Inter"/>
                        </a:rPr>
                        <a:t>Buzzer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Inter"/>
                        </a:rPr>
                        <a:t>GPIO 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81750" y="5727352"/>
            <a:ext cx="52292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*Logic level shifting implemented on Echo pin for ESP32 3.3V safety.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81750" y="2598390"/>
            <a:ext cx="28820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63806" y="2598390"/>
            <a:ext cx="234716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81750" y="3093690"/>
            <a:ext cx="28820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63806" y="3093690"/>
            <a:ext cx="234716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81750" y="3588990"/>
            <a:ext cx="28820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263806" y="3588990"/>
            <a:ext cx="234716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81750" y="4084290"/>
            <a:ext cx="28820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63806" y="4084290"/>
            <a:ext cx="234716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81750" y="4579590"/>
            <a:ext cx="28820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263806" y="4579590"/>
            <a:ext cx="234716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81750" y="5074890"/>
            <a:ext cx="28820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63806" y="5074890"/>
            <a:ext cx="234716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81750" y="5570190"/>
            <a:ext cx="28820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63806" y="5570190"/>
            <a:ext cx="234716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22D3EE"/>
                </a:solidFill>
                <a:latin typeface="Montserrat"/>
              </a:rPr>
              <a:t>SYSTEM WIRING &amp; INTERFACING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581025"/>
            <a:ext cx="76200" cy="466725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171" y="3355627"/>
            <a:ext cx="2405508" cy="1714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584477"/>
            <a:ext cx="11029950" cy="375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F8FAFC"/>
                </a:solidFill>
                <a:latin typeface="Inter"/>
              </a:rPr>
              <a:t>Monitor the level. Understand the change. Protect the pump. Save the water.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5393977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54038" y="1517302"/>
            <a:ext cx="2038350" cy="923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0" i="0" u="none">
                <a:solidFill>
                  <a:srgbClr val="FACC15"/>
                </a:solidFill>
                <a:latin typeface="Montserrat ExtraBold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4038" y="2536477"/>
            <a:ext cx="2038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22D3EE"/>
                </a:solidFill>
                <a:latin typeface="Inter"/>
              </a:rPr>
              <a:t>AUTO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8563" y="1517302"/>
            <a:ext cx="2028825" cy="923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0" i="0" u="none">
                <a:solidFill>
                  <a:srgbClr val="FACC15"/>
                </a:solidFill>
                <a:latin typeface="Montserrat ExtraBold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8563" y="2536477"/>
            <a:ext cx="20288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22D3EE"/>
                </a:solidFill>
                <a:latin typeface="Inter"/>
              </a:rPr>
              <a:t>OVERFLOW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3564" y="1517302"/>
            <a:ext cx="2324100" cy="923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0" i="0" u="none">
                <a:solidFill>
                  <a:srgbClr val="FACC15"/>
                </a:solidFill>
                <a:latin typeface="Montserrat ExtraBold"/>
              </a:rPr>
              <a:t>24/7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13564" y="2536477"/>
            <a:ext cx="23241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22D3EE"/>
                </a:solidFill>
                <a:latin typeface="Inter"/>
              </a:rPr>
              <a:t>QUALITY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22D3EE"/>
                </a:solidFill>
                <a:latin typeface="Montserrat"/>
              </a:rPr>
              <a:t>FINAL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581025"/>
            <a:ext cx="76200" cy="466725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2021234"/>
            <a:ext cx="6060757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sz="7500" b="1" i="0" u="none">
                <a:solidFill>
                  <a:srgbClr val="F8FAFC"/>
                </a:solidFill>
                <a:latin typeface="Montserrat"/>
              </a:rPr>
              <a:t>THANK</a:t>
            </a:r>
            <a:r>
              <a:rPr sz="7500" b="1" i="0" u="none">
                <a:solidFill>
                  <a:srgbClr val="22D3EE"/>
                </a:solidFill>
                <a:latin typeface="Montserrat"/>
              </a:rPr>
              <a:t>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3259484"/>
            <a:ext cx="57721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sz="2400" b="0" i="0" u="none">
                <a:solidFill>
                  <a:srgbClr val="94A3B8"/>
                </a:solidFill>
                <a:latin typeface="Inter"/>
              </a:rPr>
              <a:t>Any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4509045"/>
            <a:ext cx="57721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22D3EE"/>
                </a:solidFill>
                <a:latin typeface="Inter"/>
              </a:rPr>
              <a:t>Bhuvanesh Chinnathambi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4783335"/>
            <a:ext cx="57721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Electronics and Communication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425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Inter</vt:lpstr>
      <vt:lpstr>Inter SemiBold</vt:lpstr>
      <vt:lpstr>JetBrains Mono</vt:lpstr>
      <vt:lpstr>Montserrat</vt:lpstr>
      <vt:lpstr>Montserrat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4</cp:revision>
  <dcterms:created xsi:type="dcterms:W3CDTF">2013-01-27T09:14:16Z</dcterms:created>
  <dcterms:modified xsi:type="dcterms:W3CDTF">2026-07-26T15:45:45Z</dcterms:modified>
  <cp:category/>
</cp:coreProperties>
</file>